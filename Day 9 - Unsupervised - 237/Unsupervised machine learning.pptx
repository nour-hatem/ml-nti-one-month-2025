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syQLlTMgFf21VnGSi09qSqrZE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12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24" name="Google Shape;24;p12"/>
            <p:cNvSpPr/>
            <p:nvPr/>
          </p:nvSpPr>
          <p:spPr>
            <a:xfrm>
              <a:off x="0" y="-7862"/>
              <a:ext cx="863600" cy="5698067"/>
            </a:xfrm>
            <a:custGeom>
              <a:rect b="b" l="l" r="r" t="t"/>
              <a:pathLst>
                <a:path extrusionOk="0" h="5698067" w="86360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69803"/>
              </a:schemeClr>
            </a:solidFill>
            <a:ln>
              <a:noFill/>
            </a:ln>
          </p:spPr>
        </p:sp>
        <p:cxnSp>
          <p:nvCxnSpPr>
            <p:cNvPr id="25" name="Google Shape;25;p12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6980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" name="Google Shape;26;p12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6980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" name="Google Shape;27;p12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</p:sp>
        <p:sp>
          <p:nvSpPr>
            <p:cNvPr id="28" name="Google Shape;28;p12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29" name="Google Shape;29;p1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12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49803"/>
              </a:srgbClr>
            </a:solidFill>
            <a:ln>
              <a:noFill/>
            </a:ln>
          </p:spPr>
        </p:sp>
        <p:sp>
          <p:nvSpPr>
            <p:cNvPr id="31" name="Google Shape;31;p12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</p:sp>
        <p:sp>
          <p:nvSpPr>
            <p:cNvPr id="32" name="Google Shape;32;p12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33" name="Google Shape;33;p12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12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1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" type="body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1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5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" type="body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2" type="body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3" type="body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3" name="Google Shape;63;p16"/>
          <p:cNvSpPr txBox="1"/>
          <p:nvPr>
            <p:ph idx="4" type="body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2" type="body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80" name="Google Shape;80;p1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/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0"/>
          <p:cNvSpPr/>
          <p:nvPr>
            <p:ph idx="2" type="pic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20"/>
          <p:cNvSpPr txBox="1"/>
          <p:nvPr>
            <p:ph idx="1" type="body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7" name="Google Shape;87;p2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2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2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1" type="body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9" name="Google Shape;99;p22"/>
          <p:cNvSpPr txBox="1"/>
          <p:nvPr>
            <p:ph idx="2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2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22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4" name="Google Shape;104;p22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/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3"/>
          <p:cNvSpPr txBox="1"/>
          <p:nvPr>
            <p:ph idx="1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8" name="Google Shape;108;p2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4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4" name="Google Shape;114;p24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2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24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19" name="Google Shape;119;p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5"/>
          <p:cNvSpPr txBox="1"/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5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3" name="Google Shape;123;p25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2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6"/>
          <p:cNvSpPr txBox="1"/>
          <p:nvPr>
            <p:ph idx="1" type="body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0" name="Google Shape;130;p2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 txBox="1"/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7"/>
          <p:cNvSpPr txBox="1"/>
          <p:nvPr>
            <p:ph idx="1" type="body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6" name="Google Shape;136;p2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1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" name="Google Shape;7;p11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6980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" name="Google Shape;8;p11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6980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" name="Google Shape;9;p11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</p:sp>
        <p:sp>
          <p:nvSpPr>
            <p:cNvPr id="10" name="Google Shape;10;p11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1" name="Google Shape;11;p11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11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49803"/>
              </a:srgbClr>
            </a:solidFill>
            <a:ln>
              <a:noFill/>
            </a:ln>
          </p:spPr>
        </p:sp>
        <p:sp>
          <p:nvSpPr>
            <p:cNvPr id="13" name="Google Shape;13;p11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</p:sp>
        <p:sp>
          <p:nvSpPr>
            <p:cNvPr id="14" name="Google Shape;14;p11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15" name="Google Shape;15;p11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11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6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" name="Google Shape;17;p1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9" name="Google Shape;19;p1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1" name="Google Shape;21;p1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</a:pPr>
            <a:r>
              <a:rPr lang="en-US"/>
              <a:t>Unsupervised machine learning </a:t>
            </a:r>
            <a:endParaRPr/>
          </a:p>
        </p:txBody>
      </p:sp>
      <p:sp>
        <p:nvSpPr>
          <p:cNvPr id="144" name="Google Shape;144;p1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b="1" lang="en-US">
                <a:solidFill>
                  <a:srgbClr val="226292"/>
                </a:solidFill>
              </a:rPr>
              <a:t>Noha Rashad </a:t>
            </a:r>
            <a:endParaRPr b="1">
              <a:solidFill>
                <a:srgbClr val="22629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>
            <p:ph type="title"/>
          </p:nvPr>
        </p:nvSpPr>
        <p:spPr>
          <a:xfrm>
            <a:off x="393895" y="409527"/>
            <a:ext cx="8596668" cy="701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Supervised Vs unsupervised Learning </a:t>
            </a:r>
            <a:endParaRPr/>
          </a:p>
        </p:txBody>
      </p:sp>
      <p:sp>
        <p:nvSpPr>
          <p:cNvPr id="150" name="Google Shape;150;p2"/>
          <p:cNvSpPr txBox="1"/>
          <p:nvPr>
            <p:ph idx="1" type="body"/>
          </p:nvPr>
        </p:nvSpPr>
        <p:spPr>
          <a:xfrm>
            <a:off x="150575" y="1012874"/>
            <a:ext cx="9123428" cy="58451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26292"/>
              </a:buClr>
              <a:buSzPts val="2000"/>
              <a:buNone/>
            </a:pPr>
            <a:r>
              <a:rPr b="1" lang="en-US" sz="2000">
                <a:solidFill>
                  <a:srgbClr val="226292"/>
                </a:solidFill>
              </a:rPr>
              <a:t>Supervised Learning :</a:t>
            </a:r>
            <a:endParaRPr/>
          </a:p>
          <a:p>
            <a:pPr indent="-1270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data used for training includes 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both input and output (labels)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 model learns the relationship between inputs and known outputs.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26292"/>
              </a:buClr>
              <a:buSzPts val="2000"/>
              <a:buNone/>
            </a:pPr>
            <a:r>
              <a:rPr b="1" lang="en-US" sz="2000">
                <a:solidFill>
                  <a:srgbClr val="226292"/>
                </a:solidFill>
                <a:latin typeface="Arial"/>
                <a:ea typeface="Arial"/>
                <a:cs typeface="Arial"/>
                <a:sym typeface="Arial"/>
              </a:rPr>
              <a:t>Goal :</a:t>
            </a:r>
            <a:r>
              <a:rPr lang="en-US" sz="2000"/>
              <a:t>To predict the output for new, unseen inputs.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t/>
            </a:r>
            <a:endParaRPr b="1" sz="2000">
              <a:solidFill>
                <a:srgbClr val="2262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26292"/>
              </a:buClr>
              <a:buSzPts val="2000"/>
              <a:buNone/>
            </a:pPr>
            <a:r>
              <a:rPr b="1" lang="en-US" sz="2000">
                <a:solidFill>
                  <a:srgbClr val="226292"/>
                </a:solidFill>
              </a:rPr>
              <a:t>Algorithms</a:t>
            </a:r>
            <a:r>
              <a:rPr lang="en-US" sz="2000">
                <a:solidFill>
                  <a:srgbClr val="226292"/>
                </a:solidFill>
              </a:rPr>
              <a:t>: </a:t>
            </a:r>
            <a:endParaRPr/>
          </a:p>
          <a:p>
            <a:pPr indent="-1270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 Regression</a:t>
            </a:r>
            <a:endParaRPr/>
          </a:p>
          <a:p>
            <a:pPr indent="-1270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Logistic Regression</a:t>
            </a:r>
            <a:endParaRPr/>
          </a:p>
          <a:p>
            <a:pPr indent="-1270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Decision Trees</a:t>
            </a:r>
            <a:endParaRPr/>
          </a:p>
          <a:p>
            <a:pPr indent="-1270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K-Nearest Neighbors (KNN)</a:t>
            </a:r>
            <a:endParaRPr/>
          </a:p>
          <a:p>
            <a:pPr indent="-1270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Naive Bayes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 Vector Machine (SVM)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rtl="0" algn="l">
              <a:spcBef>
                <a:spcPts val="0"/>
              </a:spcBef>
              <a:spcAft>
                <a:spcPts val="0"/>
              </a:spcAft>
              <a:buClr>
                <a:srgbClr val="226292"/>
              </a:buClr>
              <a:buSzPts val="2000"/>
              <a:buFont typeface="Trebuchet MS"/>
              <a:buChar char="•"/>
            </a:pPr>
            <a:r>
              <a:rPr b="1" lang="en-US" sz="2000">
                <a:solidFill>
                  <a:srgbClr val="226292"/>
                </a:solidFill>
              </a:rPr>
              <a:t>Applications</a:t>
            </a:r>
            <a:r>
              <a:rPr lang="en-US" sz="2000">
                <a:solidFill>
                  <a:srgbClr val="226292"/>
                </a:solidFill>
              </a:rPr>
              <a:t>:</a:t>
            </a:r>
            <a:endParaRPr/>
          </a:p>
          <a:p>
            <a:pPr indent="-1270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Email classification (spam vs not spam)</a:t>
            </a:r>
            <a:endParaRPr/>
          </a:p>
          <a:p>
            <a:pPr indent="-1270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Predicting house prices</a:t>
            </a:r>
            <a:endParaRPr/>
          </a:p>
          <a:p>
            <a:pPr indent="-1270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Disease diagnosis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Trebuchet MS"/>
              <a:buNone/>
            </a:pPr>
            <a:r>
              <a:t/>
            </a:r>
            <a:endParaRPr sz="2000">
              <a:solidFill>
                <a:srgbClr val="2262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Trebuchet MS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Trebuchet MS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 txBox="1"/>
          <p:nvPr>
            <p:ph idx="1" type="body"/>
          </p:nvPr>
        </p:nvSpPr>
        <p:spPr>
          <a:xfrm>
            <a:off x="267286" y="309489"/>
            <a:ext cx="9006716" cy="57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b="1" lang="en-US">
                <a:solidFill>
                  <a:srgbClr val="226292"/>
                </a:solidFill>
              </a:rPr>
              <a:t>Unsupervised Learning: </a:t>
            </a:r>
            <a:r>
              <a:rPr lang="en-US"/>
              <a:t>the data has </a:t>
            </a:r>
            <a:r>
              <a:rPr b="1" lang="en-US"/>
              <a:t>only inputs and no labeled outputs</a:t>
            </a:r>
            <a:r>
              <a:rPr lang="en-US"/>
              <a:t>. The model tries to discover hidden patterns or groupings in the data.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en-US">
                <a:solidFill>
                  <a:srgbClr val="226292"/>
                </a:solidFill>
              </a:rPr>
              <a:t>Goal</a:t>
            </a:r>
            <a:r>
              <a:rPr lang="en-US">
                <a:solidFill>
                  <a:srgbClr val="226292"/>
                </a:solidFill>
              </a:rPr>
              <a:t>:</a:t>
            </a:r>
            <a:r>
              <a:rPr lang="en-US"/>
              <a:t>To explore the structure or distribution of the data without predefined labels.</a:t>
            </a:r>
            <a:endParaRPr/>
          </a:p>
          <a:p>
            <a:pPr indent="-114300" lvl="0" marL="0" rtl="0" algn="l">
              <a:spcBef>
                <a:spcPts val="0"/>
              </a:spcBef>
              <a:spcAft>
                <a:spcPts val="0"/>
              </a:spcAft>
              <a:buClr>
                <a:srgbClr val="226292"/>
              </a:buClr>
              <a:buSzPts val="1800"/>
              <a:buFont typeface="Trebuchet MS"/>
              <a:buChar char="•"/>
            </a:pPr>
            <a:r>
              <a:rPr b="1" lang="en-US">
                <a:solidFill>
                  <a:srgbClr val="226292"/>
                </a:solidFill>
              </a:rPr>
              <a:t>Algorithms</a:t>
            </a:r>
            <a:r>
              <a:rPr lang="en-US">
                <a:solidFill>
                  <a:srgbClr val="226292"/>
                </a:solidFill>
              </a:rPr>
              <a:t>:</a:t>
            </a:r>
            <a:endParaRPr/>
          </a:p>
          <a:p>
            <a:pPr indent="-1143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K-Means Clustering</a:t>
            </a:r>
            <a:endParaRPr/>
          </a:p>
          <a:p>
            <a:pPr indent="-1143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Hierarchical Clustering</a:t>
            </a:r>
            <a:endParaRPr/>
          </a:p>
          <a:p>
            <a:pPr indent="-1143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Principal Component Analysis (PCA)</a:t>
            </a:r>
            <a:endParaRPr/>
          </a:p>
          <a:p>
            <a:pPr indent="-1143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DBSCAN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b="1" lang="en-US">
                <a:solidFill>
                  <a:srgbClr val="226292"/>
                </a:solidFill>
              </a:rPr>
              <a:t>Applications</a:t>
            </a:r>
            <a:r>
              <a:rPr lang="en-US">
                <a:solidFill>
                  <a:srgbClr val="226292"/>
                </a:solidFill>
              </a:rPr>
              <a:t>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 segmentation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Anomaly detection (fraud detection)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compression or visualization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1">
              <a:solidFill>
                <a:srgbClr val="226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b="1" lang="en-US"/>
              <a:t>Clustering</a:t>
            </a:r>
            <a:endParaRPr b="1"/>
          </a:p>
        </p:txBody>
      </p:sp>
      <p:sp>
        <p:nvSpPr>
          <p:cNvPr id="162" name="Google Shape;162;p4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Definition</a:t>
            </a:r>
            <a:r>
              <a:rPr lang="en-US"/>
              <a:t>: Grouping data into clusters where similar items are grouped together.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Goal</a:t>
            </a:r>
            <a:r>
              <a:rPr lang="en-US"/>
              <a:t>: Find natural groupings or structures within data.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Popular Algorithms</a:t>
            </a:r>
            <a:r>
              <a:rPr lang="en-US"/>
              <a:t>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b="1" lang="en-US"/>
              <a:t>K-Means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b="1" lang="en-US"/>
              <a:t>Hierarchical Clustering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b="1" lang="en-US"/>
              <a:t>DBSCAN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Example</a:t>
            </a:r>
            <a:r>
              <a:rPr lang="en-US"/>
              <a:t>: Grouping customers based on purchasing behavior.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 txBox="1"/>
          <p:nvPr>
            <p:ph type="title"/>
          </p:nvPr>
        </p:nvSpPr>
        <p:spPr>
          <a:xfrm>
            <a:off x="755609" y="609600"/>
            <a:ext cx="85968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b="1" lang="en-US"/>
              <a:t> Dimensionality Reduction</a:t>
            </a:r>
            <a:endParaRPr b="1"/>
          </a:p>
        </p:txBody>
      </p:sp>
      <p:sp>
        <p:nvSpPr>
          <p:cNvPr id="168" name="Google Shape;168;p5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Definition</a:t>
            </a:r>
            <a:r>
              <a:rPr lang="en-US"/>
              <a:t>: Reducing the number of input variables (features) while preserving important information.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Goal</a:t>
            </a:r>
            <a:r>
              <a:rPr lang="en-US"/>
              <a:t>: Simplify the dataset, remove noise, or visualize high-dimensional data.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Popular Algorithms</a:t>
            </a:r>
            <a:r>
              <a:rPr lang="en-US"/>
              <a:t>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b="1" lang="en-US"/>
              <a:t>PCA (Principal Component Analysis)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b="1" lang="en-US"/>
              <a:t>t-SNE (t-distributed Stochastic Neighbor Embedding)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b="1" lang="en-US"/>
              <a:t>Autoencoders</a:t>
            </a:r>
            <a:r>
              <a:rPr lang="en-US"/>
              <a:t> (neural network-based)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Example</a:t>
            </a:r>
            <a:r>
              <a:rPr lang="en-US"/>
              <a:t>: Reducing hundreds of image features into 2D or 3D for visualization.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b="1" lang="en-US"/>
              <a:t>Association Rule Learning</a:t>
            </a:r>
            <a:endParaRPr b="1"/>
          </a:p>
        </p:txBody>
      </p:sp>
      <p:sp>
        <p:nvSpPr>
          <p:cNvPr id="174" name="Google Shape;174;p6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Definition</a:t>
            </a:r>
            <a:r>
              <a:rPr lang="en-US"/>
              <a:t>: Discovering interesting relationships or patterns between variables in large datasets.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Goal</a:t>
            </a:r>
            <a:r>
              <a:rPr lang="en-US"/>
              <a:t>: Find rules that describe how variables are associated.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Popular Algorithms</a:t>
            </a:r>
            <a:r>
              <a:rPr lang="en-US"/>
              <a:t>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b="1" lang="en-US"/>
              <a:t>Apriori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b="1" lang="en-US"/>
              <a:t>Eclat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Example</a:t>
            </a:r>
            <a:r>
              <a:rPr lang="en-US"/>
              <a:t>: Market basket analysis (e.g., customers who buy bread often buy butter).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b="1" lang="en-US"/>
              <a:t>Anomaly Detection (Outlier Detection)</a:t>
            </a:r>
            <a:endParaRPr b="1"/>
          </a:p>
        </p:txBody>
      </p:sp>
      <p:sp>
        <p:nvSpPr>
          <p:cNvPr id="180" name="Google Shape;180;p7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Definition</a:t>
            </a:r>
            <a:r>
              <a:rPr lang="en-US"/>
              <a:t>: Identifying rare or unusual data points that differ from the majority.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Goal</a:t>
            </a:r>
            <a:r>
              <a:rPr lang="en-US"/>
              <a:t>: Detect fraudulent activity, errors, or unusual patterns.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Popular Algorithms</a:t>
            </a:r>
            <a:r>
              <a:rPr lang="en-US"/>
              <a:t>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b="1" lang="en-US"/>
              <a:t>Isolation Forest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b="1" lang="en-US"/>
              <a:t>One-Class SVM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b="1" lang="en-US"/>
              <a:t>K-Means (used for detecting points far from cluster centers)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Example</a:t>
            </a:r>
            <a:r>
              <a:rPr lang="en-US"/>
              <a:t>: Credit card fraud detection.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b="1" lang="en-US"/>
              <a:t>Neural Network-based Unsupervised Learning</a:t>
            </a:r>
            <a:endParaRPr b="1"/>
          </a:p>
        </p:txBody>
      </p:sp>
      <p:sp>
        <p:nvSpPr>
          <p:cNvPr id="186" name="Google Shape;186;p8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These are more advanced and often used in deep learning: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b="1" lang="en-US"/>
              <a:t>Autoencoders</a:t>
            </a:r>
            <a:r>
              <a:rPr lang="en-US"/>
              <a:t> – for dimensionality reduction or denoising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b="1" lang="en-US"/>
              <a:t>Generative Adversarial Networks (GANs)</a:t>
            </a:r>
            <a:r>
              <a:rPr lang="en-US"/>
              <a:t> – for generating new data samples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2025-07-23T11:59:41Z</dcterms:created>
  <dc:creator>Noha Rashad</dc:creator>
</cp:coreProperties>
</file>