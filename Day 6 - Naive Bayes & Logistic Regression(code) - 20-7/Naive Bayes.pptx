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4" r:id="rId3"/>
    <p:sldId id="265" r:id="rId4"/>
    <p:sldId id="268" r:id="rId5"/>
    <p:sldId id="269" r:id="rId6"/>
    <p:sldId id="257" r:id="rId7"/>
    <p:sldId id="267" r:id="rId8"/>
    <p:sldId id="270" r:id="rId9"/>
    <p:sldId id="258" r:id="rId10"/>
    <p:sldId id="259" r:id="rId11"/>
    <p:sldId id="266" r:id="rId12"/>
    <p:sldId id="263" r:id="rId13"/>
    <p:sldId id="271" r:id="rId14"/>
    <p:sldId id="26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20/07/2025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20/07/2025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20/07/2025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20/07/2025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20/07/2025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20/07/2025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20/07/2025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20/07/2025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20/07/2025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20/07/2025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20/07/2025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20/07/2025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20/07/2025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20/07/2025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20/07/2025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20/07/2025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20/07/2025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Naive Bayes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</a:rPr>
              <a:t>Noha Rashad</a:t>
            </a:r>
            <a:endParaRPr lang="en-US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1302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6437" y="703385"/>
            <a:ext cx="26587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</a:rPr>
              <a:t>Agenda </a:t>
            </a:r>
            <a:endParaRPr lang="en-US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56" y="1617785"/>
            <a:ext cx="609131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What is Naïve Bayes?</a:t>
            </a:r>
          </a:p>
          <a:p>
            <a:endParaRPr lang="en-US" b="1" dirty="0" smtClean="0"/>
          </a:p>
          <a:p>
            <a:r>
              <a:rPr lang="en-US" b="1" dirty="0" smtClean="0"/>
              <a:t>Bayes theorem </a:t>
            </a:r>
          </a:p>
          <a:p>
            <a:endParaRPr lang="en-US" b="1" dirty="0" smtClean="0"/>
          </a:p>
          <a:p>
            <a:r>
              <a:rPr lang="en-US" b="1" dirty="0" smtClean="0"/>
              <a:t>How Naïve Bayes Work ? </a:t>
            </a:r>
          </a:p>
          <a:p>
            <a:endParaRPr lang="en-US" b="1" dirty="0" smtClean="0"/>
          </a:p>
          <a:p>
            <a:r>
              <a:rPr lang="en-US" b="1" dirty="0" smtClean="0"/>
              <a:t>Types of Naïve Bayes</a:t>
            </a:r>
          </a:p>
          <a:p>
            <a:endParaRPr lang="en-US" b="1" dirty="0" smtClean="0"/>
          </a:p>
          <a:p>
            <a:r>
              <a:rPr lang="en-US" b="1" dirty="0" smtClean="0"/>
              <a:t>When to use Naïve Bayes ?</a:t>
            </a:r>
          </a:p>
          <a:p>
            <a:endParaRPr lang="en-US" b="1" dirty="0" smtClean="0"/>
          </a:p>
          <a:p>
            <a:r>
              <a:rPr lang="en-US" b="1" dirty="0" smtClean="0"/>
              <a:t>Example </a:t>
            </a:r>
          </a:p>
          <a:p>
            <a:endParaRPr lang="en-US" b="1" dirty="0" smtClean="0"/>
          </a:p>
          <a:p>
            <a:r>
              <a:rPr lang="en-US" b="1" dirty="0" smtClean="0"/>
              <a:t>Advantage and Disadvantage </a:t>
            </a:r>
          </a:p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Application of Naïve Bayes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15358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7700" y="660401"/>
            <a:ext cx="4914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</a:rPr>
              <a:t>What is Naïve Bayes ?</a:t>
            </a:r>
            <a:endParaRPr lang="en-US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0700" y="1778000"/>
            <a:ext cx="726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Is a supervised learning Algorithm based on </a:t>
            </a:r>
            <a:r>
              <a:rPr lang="en-US" dirty="0" smtClean="0">
                <a:solidFill>
                  <a:srgbClr val="FF0000"/>
                </a:solidFill>
              </a:rPr>
              <a:t>Bayes theorem </a:t>
            </a:r>
            <a:r>
              <a:rPr lang="en-US" dirty="0" smtClean="0"/>
              <a:t>and used to solve </a:t>
            </a:r>
            <a:r>
              <a:rPr lang="en-US" dirty="0" smtClean="0">
                <a:solidFill>
                  <a:srgbClr val="FF0000"/>
                </a:solidFill>
              </a:rPr>
              <a:t>classification and </a:t>
            </a:r>
            <a:r>
              <a:rPr lang="en-US" smtClean="0">
                <a:solidFill>
                  <a:srgbClr val="FF0000"/>
                </a:solidFill>
              </a:rPr>
              <a:t>Regression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0700" y="2957155"/>
            <a:ext cx="5448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Naïve </a:t>
            </a:r>
            <a:r>
              <a:rPr lang="en-US" dirty="0" err="1" smtClean="0"/>
              <a:t>bayes</a:t>
            </a:r>
            <a:r>
              <a:rPr lang="en-US" dirty="0" smtClean="0"/>
              <a:t> classifier is one of the simple and </a:t>
            </a:r>
            <a:r>
              <a:rPr lang="en-US" dirty="0" smtClean="0">
                <a:solidFill>
                  <a:srgbClr val="FF0000"/>
                </a:solidFill>
              </a:rPr>
              <a:t>most effective classification Algorithms </a:t>
            </a:r>
            <a:r>
              <a:rPr lang="en-US" dirty="0" smtClean="0"/>
              <a:t>which helps in building the fast machine learning models that’s can make </a:t>
            </a:r>
            <a:r>
              <a:rPr lang="en-US" dirty="0" smtClean="0">
                <a:solidFill>
                  <a:srgbClr val="FF0000"/>
                </a:solidFill>
              </a:rPr>
              <a:t>quick predictions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 flipH="1">
            <a:off x="647699" y="4572000"/>
            <a:ext cx="58673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Some popular Examples of Naïve Bayes Algorithm are  </a:t>
            </a:r>
            <a:r>
              <a:rPr lang="en-US" dirty="0" smtClean="0">
                <a:solidFill>
                  <a:srgbClr val="FF0000"/>
                </a:solidFill>
              </a:rPr>
              <a:t>sentimental Analysis ,spam filtration ,</a:t>
            </a:r>
            <a:r>
              <a:rPr lang="en-US" dirty="0">
                <a:solidFill>
                  <a:srgbClr val="FF0000"/>
                </a:solidFill>
              </a:rPr>
              <a:t> News Categorization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0" y="2101165"/>
            <a:ext cx="3905577" cy="2147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314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325" y="371475"/>
            <a:ext cx="8959677" cy="1558925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Bayes Theorem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25" y="923925"/>
            <a:ext cx="9254952" cy="4298287"/>
          </a:xfrm>
        </p:spPr>
        <p:txBody>
          <a:bodyPr/>
          <a:lstStyle/>
          <a:p>
            <a:r>
              <a:rPr lang="en-US" dirty="0" smtClean="0"/>
              <a:t>Helps you to examine the probability of an event based on the prior knowledge of any event that has correspondence to the former event.</a:t>
            </a:r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82406"/>
            <a:ext cx="184731" cy="29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3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2627" y="1930400"/>
            <a:ext cx="2577750" cy="22510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14325" y="1666875"/>
            <a:ext cx="3190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Where A and B are Events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 flipH="1">
            <a:off x="314324" y="2036207"/>
            <a:ext cx="3705225" cy="877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5" name="Rectangle 19"/>
          <p:cNvSpPr>
            <a:spLocks noChangeArrowheads="1"/>
          </p:cNvSpPr>
          <p:nvPr/>
        </p:nvSpPr>
        <p:spPr bwMode="auto">
          <a:xfrm>
            <a:off x="314324" y="2282611"/>
            <a:ext cx="544830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P(A∣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B</a:t>
            </a:r>
            <a:r>
              <a:rPr lang="ar-EG" dirty="0" smtClean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“The probability that event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true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after observing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event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.”</a:t>
            </a:r>
            <a:b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is called the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posterior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it’s what we’re trying to calculate.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4324" y="3729344"/>
            <a:ext cx="52101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P(B∣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A)</a:t>
            </a:r>
            <a:r>
              <a:rPr lang="en-US" dirty="0" smtClean="0"/>
              <a:t>“The </a:t>
            </a:r>
            <a:r>
              <a:rPr lang="en-US" dirty="0"/>
              <a:t>probability of observing event </a:t>
            </a:r>
            <a:r>
              <a:rPr lang="en-US" b="1" dirty="0"/>
              <a:t>B</a:t>
            </a:r>
            <a:r>
              <a:rPr lang="en-US" dirty="0"/>
              <a:t>, </a:t>
            </a:r>
            <a:r>
              <a:rPr lang="en-US" b="1" dirty="0"/>
              <a:t>assuming that A is already true</a:t>
            </a:r>
            <a:r>
              <a:rPr lang="en-US" dirty="0" smtClean="0"/>
              <a:t>.”</a:t>
            </a:r>
            <a:endParaRPr lang="ar-EG" dirty="0" smtClean="0"/>
          </a:p>
          <a:p>
            <a:r>
              <a:rPr lang="en-US" dirty="0" smtClean="0"/>
              <a:t>This </a:t>
            </a:r>
            <a:r>
              <a:rPr lang="en-US" dirty="0"/>
              <a:t>is called the </a:t>
            </a:r>
            <a:r>
              <a:rPr lang="en-US" b="1" dirty="0"/>
              <a:t>likelihood</a:t>
            </a:r>
            <a:r>
              <a:rPr lang="en-US" dirty="0"/>
              <a:t> — how likely the evidence is under the assumption.</a:t>
            </a:r>
          </a:p>
        </p:txBody>
      </p:sp>
    </p:spTree>
    <p:extLst>
      <p:ext uri="{BB962C8B-B14F-4D97-AF65-F5344CB8AC3E}">
        <p14:creationId xmlns:p14="http://schemas.microsoft.com/office/powerpoint/2010/main" val="664409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 rot="10800000" flipV="1">
            <a:off x="342900" y="715271"/>
            <a:ext cx="677375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P(A)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“The initial probability that event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true,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before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seeing any evidence.”</a:t>
            </a:r>
            <a:b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is the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prior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your belief or knowledge before new data.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342900" y="2281186"/>
            <a:ext cx="963308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P(B)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“The total probability of observing event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from all possible causes.”</a:t>
            </a:r>
            <a:b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This is the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evidence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it acts as a normalizing factor to ensure the result is a valid probability.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76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3589" y="0"/>
            <a:ext cx="123055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054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 flipH="1">
            <a:off x="457200" y="622300"/>
            <a:ext cx="6324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accent1">
                    <a:lumMod val="75000"/>
                  </a:schemeClr>
                </a:solidFill>
              </a:rPr>
              <a:t>Types of Naïve Bayes classifier  </a:t>
            </a:r>
            <a:endParaRPr lang="en-US" sz="28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661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1. Gaussian Naive Bayes</a:t>
            </a: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Use for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:</a:t>
            </a:r>
            <a:r>
              <a:rPr lang="en-US" dirty="0"/>
              <a:t> Continuous (real-valued) data</a:t>
            </a: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Assumption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: </a:t>
            </a:r>
            <a:r>
              <a:rPr lang="en-US" dirty="0"/>
              <a:t>Features follow a </a:t>
            </a:r>
            <a:r>
              <a:rPr lang="en-US" b="1" dirty="0"/>
              <a:t>normal (Gaussian) distribution</a:t>
            </a:r>
            <a:endParaRPr lang="en-US" dirty="0"/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Example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: </a:t>
            </a:r>
            <a:r>
              <a:rPr lang="en-US" dirty="0"/>
              <a:t>Predicting disease based on age, blood pressure, temperature, etc</a:t>
            </a:r>
            <a:r>
              <a:rPr lang="en-US" dirty="0" smtClean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3075008"/>
            <a:ext cx="85725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2. Multinomial Naive Bayes</a:t>
            </a: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Use for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: </a:t>
            </a:r>
            <a:r>
              <a:rPr lang="en-US" dirty="0"/>
              <a:t>Discrete data (typically </a:t>
            </a:r>
            <a:r>
              <a:rPr lang="en-US" b="1" dirty="0"/>
              <a:t>word counts</a:t>
            </a:r>
            <a:r>
              <a:rPr lang="en-US" dirty="0"/>
              <a:t> or frequencies)</a:t>
            </a: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Assumption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: </a:t>
            </a:r>
            <a:r>
              <a:rPr lang="en-US" dirty="0"/>
              <a:t>Features represent counts (e.g., how many times a word appears)</a:t>
            </a: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Example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: </a:t>
            </a:r>
            <a:r>
              <a:rPr lang="en-US" dirty="0"/>
              <a:t>Text classification, spam detection, sentiment </a:t>
            </a:r>
            <a:r>
              <a:rPr lang="en-US" dirty="0" smtClean="0"/>
              <a:t>analysis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 flipH="1">
            <a:off x="457200" y="4501417"/>
            <a:ext cx="74580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3. Bernoulli Naive Bayes</a:t>
            </a: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Use for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: </a:t>
            </a:r>
            <a:r>
              <a:rPr lang="en-US" dirty="0"/>
              <a:t>Binary/Boolean features (0 or 1)</a:t>
            </a: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Assumption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: </a:t>
            </a:r>
            <a:r>
              <a:rPr lang="en-US" dirty="0"/>
              <a:t>Features are </a:t>
            </a:r>
            <a:r>
              <a:rPr lang="en-US" b="1" dirty="0"/>
              <a:t>binary</a:t>
            </a:r>
            <a:r>
              <a:rPr lang="en-US" dirty="0"/>
              <a:t> — e.g., word is </a:t>
            </a:r>
            <a:r>
              <a:rPr lang="en-US" b="1" dirty="0"/>
              <a:t>present or not</a:t>
            </a:r>
            <a:endParaRPr lang="en-US" dirty="0"/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Example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: </a:t>
            </a:r>
            <a:r>
              <a:rPr lang="en-US" dirty="0"/>
              <a:t>Text classification with binary word presence matrix</a:t>
            </a:r>
          </a:p>
        </p:txBody>
      </p:sp>
    </p:spTree>
    <p:extLst>
      <p:ext uri="{BB962C8B-B14F-4D97-AF65-F5344CB8AC3E}">
        <p14:creationId xmlns:p14="http://schemas.microsoft.com/office/powerpoint/2010/main" val="4178680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829" y="369205"/>
            <a:ext cx="9190113" cy="6176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005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3700" y="2124869"/>
            <a:ext cx="8778702" cy="38766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2234" y="1587500"/>
            <a:ext cx="309456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Email Spam Detection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2421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Classification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473201"/>
            <a:ext cx="8740602" cy="4568162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Step 1: Calculate Prior </a:t>
            </a:r>
            <a:r>
              <a:rPr lang="en-US" b="1" dirty="0" smtClean="0">
                <a:solidFill>
                  <a:srgbClr val="FF0000"/>
                </a:solidFill>
              </a:rPr>
              <a:t>Probabilities</a:t>
            </a:r>
          </a:p>
          <a:p>
            <a:pPr marL="0" indent="0">
              <a:buNone/>
            </a:pPr>
            <a:r>
              <a:rPr lang="en-US" dirty="0"/>
              <a:t>P(SPAM) = 3/5 = 0.6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P(HAM) = 2/5 = </a:t>
            </a:r>
            <a:r>
              <a:rPr lang="en-US" dirty="0" smtClean="0"/>
              <a:t>0.4</a:t>
            </a:r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Step 2: Calculate Likelihood for Each Feature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</a:rPr>
              <a:t>For SPAM emails (3 total):</a:t>
            </a:r>
          </a:p>
          <a:p>
            <a:pPr marL="0" indent="0">
              <a:buNone/>
            </a:pPr>
            <a:r>
              <a:rPr lang="en-US" dirty="0"/>
              <a:t>P("</a:t>
            </a:r>
            <a:r>
              <a:rPr lang="en-US" dirty="0" err="1"/>
              <a:t>Free"|SPAM</a:t>
            </a:r>
            <a:r>
              <a:rPr lang="en-US" dirty="0"/>
              <a:t>) = 3/3 = 1.0</a:t>
            </a:r>
            <a:br>
              <a:rPr lang="en-US" dirty="0"/>
            </a:br>
            <a:r>
              <a:rPr lang="en-US" dirty="0"/>
              <a:t>P("</a:t>
            </a:r>
            <a:r>
              <a:rPr lang="en-US" dirty="0" err="1"/>
              <a:t>Money"|SPAM</a:t>
            </a:r>
            <a:r>
              <a:rPr lang="en-US" dirty="0"/>
              <a:t>) = 2/3 = 0.67</a:t>
            </a:r>
            <a:br>
              <a:rPr lang="en-US" dirty="0"/>
            </a:br>
            <a:r>
              <a:rPr lang="en-US" dirty="0"/>
              <a:t>P("</a:t>
            </a:r>
            <a:r>
              <a:rPr lang="en-US" dirty="0" err="1"/>
              <a:t>Urgent"|SPAM</a:t>
            </a:r>
            <a:r>
              <a:rPr lang="en-US" dirty="0"/>
              <a:t>) = 2/3 = </a:t>
            </a:r>
            <a:r>
              <a:rPr lang="en-US" dirty="0" smtClean="0"/>
              <a:t>0.67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</a:rPr>
              <a:t>For HAM emails (2 total):</a:t>
            </a:r>
          </a:p>
          <a:p>
            <a:pPr marL="0" indent="0">
              <a:buNone/>
            </a:pPr>
            <a:r>
              <a:rPr lang="en-US" dirty="0"/>
              <a:t>P("</a:t>
            </a:r>
            <a:r>
              <a:rPr lang="en-US" dirty="0" err="1"/>
              <a:t>Free"|HAM</a:t>
            </a:r>
            <a:r>
              <a:rPr lang="en-US" dirty="0"/>
              <a:t>) = 0/2 = 0.0</a:t>
            </a:r>
            <a:br>
              <a:rPr lang="en-US" dirty="0"/>
            </a:br>
            <a:r>
              <a:rPr lang="en-US" dirty="0"/>
              <a:t>P("</a:t>
            </a:r>
            <a:r>
              <a:rPr lang="en-US" dirty="0" err="1"/>
              <a:t>Money"|HAM</a:t>
            </a:r>
            <a:r>
              <a:rPr lang="en-US" dirty="0"/>
              <a:t>) = 1/2 = 0.5</a:t>
            </a:r>
            <a:br>
              <a:rPr lang="en-US" dirty="0"/>
            </a:br>
            <a:r>
              <a:rPr lang="en-US" dirty="0"/>
              <a:t>P("</a:t>
            </a:r>
            <a:r>
              <a:rPr lang="en-US" dirty="0" err="1"/>
              <a:t>Urgent"|HAM</a:t>
            </a:r>
            <a:r>
              <a:rPr lang="en-US" dirty="0"/>
              <a:t>) = 0/2 = 0.0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388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80366" y="999509"/>
            <a:ext cx="86868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Step 3: Classify New Email</a:t>
            </a:r>
          </a:p>
          <a:p>
            <a:r>
              <a:rPr lang="en-US" b="1" dirty="0"/>
              <a:t>New Email:</a:t>
            </a:r>
            <a:r>
              <a:rPr lang="en-US" dirty="0"/>
              <a:t> Contains "Free" = Yes, "Money" = No, "Urgent" = Yes</a:t>
            </a:r>
          </a:p>
          <a:p>
            <a:r>
              <a:rPr lang="en-US" b="1" dirty="0">
                <a:solidFill>
                  <a:srgbClr val="FF0000"/>
                </a:solidFill>
              </a:rPr>
              <a:t>For SPAM: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P(</a:t>
            </a:r>
            <a:r>
              <a:rPr lang="en-US" dirty="0" err="1"/>
              <a:t>SPAM|features</a:t>
            </a:r>
            <a:r>
              <a:rPr lang="en-US" dirty="0"/>
              <a:t>) </a:t>
            </a:r>
            <a:r>
              <a:rPr lang="en-US" dirty="0" smtClean="0"/>
              <a:t>:</a:t>
            </a:r>
            <a:r>
              <a:rPr lang="en-US" dirty="0"/>
              <a:t> </a:t>
            </a:r>
            <a:r>
              <a:rPr lang="en-US" dirty="0" smtClean="0"/>
              <a:t>P("</a:t>
            </a:r>
            <a:r>
              <a:rPr lang="en-US" dirty="0" err="1"/>
              <a:t>Free"|SPAM</a:t>
            </a:r>
            <a:r>
              <a:rPr lang="en-US" dirty="0"/>
              <a:t>) × P("Money"=</a:t>
            </a:r>
            <a:r>
              <a:rPr lang="en-US" dirty="0" err="1"/>
              <a:t>No|SPAM</a:t>
            </a:r>
            <a:r>
              <a:rPr lang="en-US" dirty="0"/>
              <a:t>) × P("</a:t>
            </a:r>
            <a:r>
              <a:rPr lang="en-US" dirty="0" err="1"/>
              <a:t>Urgent"|SPAM</a:t>
            </a:r>
            <a:r>
              <a:rPr lang="en-US" dirty="0"/>
              <a:t>) × P(SPAM)</a:t>
            </a:r>
            <a:br>
              <a:rPr lang="en-US" dirty="0"/>
            </a:br>
            <a:r>
              <a:rPr lang="en-US" dirty="0"/>
              <a:t>= 1.0 × (1-0.67) × 0.67 × 0.6</a:t>
            </a:r>
            <a:br>
              <a:rPr lang="en-US" dirty="0"/>
            </a:br>
            <a:r>
              <a:rPr lang="en-US" dirty="0"/>
              <a:t>= 1.0 × 0.33 × 0.67 × 0.6 = </a:t>
            </a:r>
            <a:r>
              <a:rPr lang="en-US" b="1" u="sng" dirty="0">
                <a:solidFill>
                  <a:srgbClr val="FF0000"/>
                </a:solidFill>
              </a:rPr>
              <a:t>0.133</a:t>
            </a:r>
            <a:endParaRPr lang="en-US" u="sng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For HAM: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P(</a:t>
            </a:r>
            <a:r>
              <a:rPr lang="en-US" dirty="0" err="1" smtClean="0"/>
              <a:t>HAM|features</a:t>
            </a:r>
            <a:r>
              <a:rPr lang="en-US" dirty="0" smtClean="0"/>
              <a:t>): P</a:t>
            </a:r>
            <a:r>
              <a:rPr lang="en-US" dirty="0"/>
              <a:t>("</a:t>
            </a:r>
            <a:r>
              <a:rPr lang="en-US" dirty="0" err="1"/>
              <a:t>Free"|HAM</a:t>
            </a:r>
            <a:r>
              <a:rPr lang="en-US" dirty="0"/>
              <a:t>) × P("Money"=</a:t>
            </a:r>
            <a:r>
              <a:rPr lang="en-US" dirty="0" err="1"/>
              <a:t>No|HAM</a:t>
            </a:r>
            <a:r>
              <a:rPr lang="en-US" dirty="0"/>
              <a:t>) × P("</a:t>
            </a:r>
            <a:r>
              <a:rPr lang="en-US" dirty="0" err="1"/>
              <a:t>Urgent"|HAM</a:t>
            </a:r>
            <a:r>
              <a:rPr lang="en-US" dirty="0"/>
              <a:t>) × P(HAM)</a:t>
            </a:r>
            <a:br>
              <a:rPr lang="en-US" dirty="0"/>
            </a:br>
            <a:r>
              <a:rPr lang="en-US" dirty="0"/>
              <a:t>= 0.0 × (1-0.5) × 0.0 × 0.4</a:t>
            </a:r>
            <a:br>
              <a:rPr lang="en-US" dirty="0"/>
            </a:br>
            <a:r>
              <a:rPr lang="en-US" dirty="0"/>
              <a:t>= 0.0 × 0.5 × 0.0 × 0.4 = </a:t>
            </a:r>
            <a:r>
              <a:rPr lang="en-US" b="1" u="sng" dirty="0">
                <a:solidFill>
                  <a:srgbClr val="FF0000"/>
                </a:solidFill>
              </a:rPr>
              <a:t>0.0</a:t>
            </a:r>
            <a:endParaRPr lang="en-US" u="sng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00300" y="49657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346200" y="4965700"/>
            <a:ext cx="6210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Classification Result: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SPAM (0.133 &gt; 0.0)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4483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0156873" cy="68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9731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"/>
            <a:ext cx="101990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8431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103" y="3451274"/>
            <a:ext cx="8596668" cy="1320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 descr="real world applications that use naive bayes algorithm.web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6790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54344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464</TotalTime>
  <Words>369</Words>
  <Application>Microsoft Office PowerPoint</Application>
  <PresentationFormat>Widescreen</PresentationFormat>
  <Paragraphs>59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Tahoma</vt:lpstr>
      <vt:lpstr>Trebuchet MS</vt:lpstr>
      <vt:lpstr>Wingdings 3</vt:lpstr>
      <vt:lpstr>Facet</vt:lpstr>
      <vt:lpstr>Naive Bayes</vt:lpstr>
      <vt:lpstr>PowerPoint Presentation</vt:lpstr>
      <vt:lpstr>PowerPoint Presentation</vt:lpstr>
      <vt:lpstr>Bayes Theorem</vt:lpstr>
      <vt:lpstr>PowerPoint Presentation</vt:lpstr>
      <vt:lpstr>PowerPoint Presentation</vt:lpstr>
      <vt:lpstr>PowerPoint Presentation</vt:lpstr>
      <vt:lpstr>PowerPoint Presentation</vt:lpstr>
      <vt:lpstr>Example </vt:lpstr>
      <vt:lpstr>Classification Steps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Naive Bayes</dc:title>
  <dc:creator>Noha Rashad</dc:creator>
  <cp:lastModifiedBy>Noha Rashad</cp:lastModifiedBy>
  <cp:revision>22</cp:revision>
  <dcterms:created xsi:type="dcterms:W3CDTF">2025-07-20T06:18:31Z</dcterms:created>
  <dcterms:modified xsi:type="dcterms:W3CDTF">2025-07-20T14:02:58Z</dcterms:modified>
</cp:coreProperties>
</file>