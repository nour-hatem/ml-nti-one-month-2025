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1" r:id="rId4"/>
    <p:sldId id="273" r:id="rId5"/>
    <p:sldId id="259" r:id="rId6"/>
    <p:sldId id="277" r:id="rId7"/>
    <p:sldId id="274" r:id="rId8"/>
    <p:sldId id="275" r:id="rId9"/>
    <p:sldId id="276" r:id="rId10"/>
    <p:sldId id="263" r:id="rId11"/>
    <p:sldId id="279" r:id="rId12"/>
    <p:sldId id="278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What is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is a type of </a:t>
            </a:r>
            <a:r>
              <a:rPr lang="en-US" b="1" dirty="0"/>
              <a:t>supervised learning</a:t>
            </a:r>
            <a:r>
              <a:rPr lang="en-US" dirty="0"/>
              <a:t> used to predict </a:t>
            </a:r>
            <a:r>
              <a:rPr lang="en-US" b="1" dirty="0"/>
              <a:t>continuous numerical values</a:t>
            </a:r>
            <a:r>
              <a:rPr lang="en-US" dirty="0"/>
              <a:t> based on input data</a:t>
            </a:r>
            <a:r>
              <a:rPr lang="en-US" dirty="0" smtClean="0"/>
              <a:t>.</a:t>
            </a:r>
            <a:endParaRPr lang="ar-EG" dirty="0"/>
          </a:p>
          <a:p>
            <a:pPr marL="0" indent="0">
              <a:buNone/>
            </a:pPr>
            <a:r>
              <a:rPr lang="ar-EG" dirty="0" smtClean="0"/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000" b="1" dirty="0">
                <a:latin typeface="Arial" panose="020B0604020202020204" pitchFamily="34" charset="0"/>
              </a:rPr>
              <a:t>Purpose</a:t>
            </a:r>
            <a:r>
              <a:rPr lang="en-US" sz="3000" dirty="0">
                <a:latin typeface="Arial" panose="020B0604020202020204" pitchFamily="34" charset="0"/>
              </a:rPr>
              <a:t>: </a:t>
            </a:r>
            <a:r>
              <a:rPr lang="en-US" sz="3000" dirty="0" smtClean="0">
                <a:latin typeface="Arial" panose="020B0604020202020204" pitchFamily="34" charset="0"/>
              </a:rPr>
              <a:t>the </a:t>
            </a:r>
            <a:r>
              <a:rPr lang="en-US" sz="3000" dirty="0">
                <a:latin typeface="Arial" panose="020B0604020202020204" pitchFamily="34" charset="0"/>
              </a:rPr>
              <a:t>relationship between a </a:t>
            </a:r>
            <a:r>
              <a:rPr lang="en-US" sz="3000" b="1" dirty="0">
                <a:latin typeface="Arial" panose="020B0604020202020204" pitchFamily="34" charset="0"/>
              </a:rPr>
              <a:t>dependent variable (target/output)</a:t>
            </a:r>
            <a:r>
              <a:rPr lang="en-US" sz="3000" dirty="0">
                <a:latin typeface="Arial" panose="020B0604020202020204" pitchFamily="34" charset="0"/>
              </a:rPr>
              <a:t> and one or more </a:t>
            </a:r>
            <a:r>
              <a:rPr lang="en-US" sz="3000" b="1" dirty="0">
                <a:latin typeface="Arial" panose="020B0604020202020204" pitchFamily="34" charset="0"/>
              </a:rPr>
              <a:t>independent variables (features/inputs</a:t>
            </a:r>
            <a:r>
              <a:rPr lang="en-US" sz="3000" b="1" dirty="0" smtClean="0">
                <a:latin typeface="Arial" panose="020B0604020202020204" pitchFamily="34" charset="0"/>
              </a:rPr>
              <a:t>)</a:t>
            </a:r>
            <a:r>
              <a:rPr lang="en-US" sz="3000" dirty="0" smtClean="0">
                <a:latin typeface="Arial" panose="020B0604020202020204" pitchFamily="34" charset="0"/>
              </a:rPr>
              <a:t>.</a:t>
            </a:r>
            <a:endParaRPr lang="ar-EG" sz="3000" dirty="0" smtClean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ar-EG" sz="30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Types of </a:t>
            </a:r>
            <a:r>
              <a:rPr lang="en-US" dirty="0" smtClean="0">
                <a:solidFill>
                  <a:srgbClr val="FF0000"/>
                </a:solidFill>
              </a:rPr>
              <a:t>Regression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670274"/>
              </p:ext>
            </p:extLst>
          </p:nvPr>
        </p:nvGraphicFramePr>
        <p:xfrm>
          <a:off x="457200" y="1600200"/>
          <a:ext cx="8229600" cy="364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60588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Output Type</a:t>
                      </a:r>
                    </a:p>
                  </a:txBody>
                  <a:tcPr anchor="ctr"/>
                </a:tc>
              </a:tr>
              <a:tr h="794988">
                <a:tc>
                  <a:txBody>
                    <a:bodyPr/>
                    <a:lstStyle/>
                    <a:p>
                      <a:r>
                        <a:rPr lang="en-US" b="1"/>
                        <a:t>Linear Regression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Assumes a linear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 value</a:t>
                      </a:r>
                    </a:p>
                  </a:txBody>
                  <a:tcPr anchor="ctr"/>
                </a:tc>
              </a:tr>
              <a:tr h="794988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for classification (outputs probabilities)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Binary/Probability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</a:tr>
              <a:tr h="794988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Polynomial Regression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Models curved relationships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 value</a:t>
                      </a:r>
                      <a:endParaRPr lang="en-US" dirty="0"/>
                    </a:p>
                  </a:txBody>
                  <a:tcPr anchor="ctr"/>
                </a:tc>
              </a:tr>
              <a:tr h="794988">
                <a:tc>
                  <a:txBody>
                    <a:bodyPr/>
                    <a:lstStyle/>
                    <a:p>
                      <a:r>
                        <a:rPr lang="en-US" b="1"/>
                        <a:t>Ridge/Lasso Regression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Regularized linear models to reduce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 value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84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</a:t>
            </a:r>
            <a:r>
              <a:rPr lang="en-US" b="1" dirty="0"/>
              <a:t>supervised machine learning algorithm</a:t>
            </a:r>
            <a:r>
              <a:rPr lang="en-US" dirty="0"/>
              <a:t> used for </a:t>
            </a:r>
            <a:r>
              <a:rPr lang="en-US" b="1" dirty="0"/>
              <a:t>classification tasks</a:t>
            </a:r>
            <a:r>
              <a:rPr lang="en-US" dirty="0"/>
              <a:t>, especially </a:t>
            </a:r>
            <a:r>
              <a:rPr lang="en-US" b="1" dirty="0"/>
              <a:t>binary classification</a:t>
            </a:r>
            <a:r>
              <a:rPr lang="en-US" dirty="0"/>
              <a:t> (e.g., spam or not spam, yes or no, 0 or 1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Despite the name “regression,” it is used for </a:t>
            </a:r>
            <a:r>
              <a:rPr lang="en-US" b="1" dirty="0"/>
              <a:t>classification</a:t>
            </a:r>
            <a:r>
              <a:rPr lang="en-US" dirty="0"/>
              <a:t>, not regression.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5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Purpose of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b="1" dirty="0"/>
              <a:t>predict the probability</a:t>
            </a:r>
            <a:r>
              <a:rPr lang="en-US" dirty="0"/>
              <a:t> that a given input </a:t>
            </a:r>
            <a:r>
              <a:rPr lang="en-US" b="1" dirty="0"/>
              <a:t>belongs to a certain class</a:t>
            </a:r>
            <a:r>
              <a:rPr lang="en-US" dirty="0"/>
              <a:t> (typically class 1).</a:t>
            </a:r>
            <a:br>
              <a:rPr lang="en-US" dirty="0"/>
            </a:br>
            <a:r>
              <a:rPr lang="en-US" dirty="0"/>
              <a:t>It outputs values between </a:t>
            </a:r>
            <a:r>
              <a:rPr lang="en-US" b="1" dirty="0"/>
              <a:t>0 and 1</a:t>
            </a:r>
            <a:r>
              <a:rPr lang="en-US" dirty="0"/>
              <a:t>, which represent </a:t>
            </a:r>
            <a:r>
              <a:rPr lang="en-US" b="1" dirty="0"/>
              <a:t>probabilities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</a:t>
            </a:r>
            <a:r>
              <a:rPr lang="en-US" b="1" dirty="0" smtClean="0">
                <a:solidFill>
                  <a:srgbClr val="FF0000"/>
                </a:solidFill>
              </a:rPr>
              <a:t>Concepts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Binary </a:t>
            </a:r>
            <a:r>
              <a:rPr lang="en-US" b="1" dirty="0"/>
              <a:t>Classification</a:t>
            </a:r>
            <a:r>
              <a:rPr lang="en-US" dirty="0"/>
              <a:t>: Predicts one of two possible outcomes (0 or 1, Yes or No, etc.)</a:t>
            </a:r>
          </a:p>
          <a:p>
            <a:r>
              <a:rPr lang="en-US" b="1" dirty="0"/>
              <a:t>Probability Output</a:t>
            </a:r>
            <a:r>
              <a:rPr lang="en-US" dirty="0"/>
              <a:t>: Returns probabilities between 0 and 1</a:t>
            </a:r>
          </a:p>
          <a:p>
            <a:r>
              <a:rPr lang="en-US" b="1" dirty="0"/>
              <a:t>Sigmoid Function</a:t>
            </a:r>
            <a:r>
              <a:rPr lang="en-US" dirty="0"/>
              <a:t>: Maps any real number to a value between 0 and 1</a:t>
            </a:r>
          </a:p>
          <a:p>
            <a:r>
              <a:rPr lang="en-US" b="1" dirty="0"/>
              <a:t>Maximum Likelihood Estimation</a:t>
            </a:r>
            <a:r>
              <a:rPr lang="en-US" dirty="0"/>
              <a:t>: Method used to find optimal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91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Mathematical Formulation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1065" y="2383853"/>
            <a:ext cx="7804597" cy="3545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Sigmoid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sigmoid function is the core of logistic regression: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σ(z) = 1 / (1 + e^(-z))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rgbClr val="383A42"/>
              </a:solidFill>
              <a:latin typeface="var(--font-mono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 = β₀ + β₁x₁ + β₂x₂ + ... + βₙxₙ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β₀ is the intercept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β₁, β₂, ..., βₙ are the coefficients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x₁, x₂, ..., xₙ are the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21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Decision Rule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193231"/>
              </p:ext>
            </p:extLst>
          </p:nvPr>
        </p:nvGraphicFramePr>
        <p:xfrm>
          <a:off x="457200" y="2218386"/>
          <a:ext cx="8229600" cy="1915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38577">
                <a:tc>
                  <a:txBody>
                    <a:bodyPr/>
                    <a:lstStyle/>
                    <a:p>
                      <a:r>
                        <a:rPr lang="en-US" dirty="0"/>
                        <a:t>Probability (</a:t>
                      </a:r>
                      <a:r>
                        <a:rPr lang="el-GR" dirty="0"/>
                        <a:t>σ(</a:t>
                      </a:r>
                      <a:r>
                        <a:rPr lang="en-US" dirty="0"/>
                        <a:t>z)\sigma(z))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 Output</a:t>
                      </a:r>
                    </a:p>
                  </a:txBody>
                  <a:tcPr anchor="ctr"/>
                </a:tc>
              </a:tr>
              <a:tr h="638577">
                <a:tc>
                  <a:txBody>
                    <a:bodyPr/>
                    <a:lstStyle/>
                    <a:p>
                      <a:r>
                        <a:rPr lang="en-US"/>
                        <a:t>≥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 1</a:t>
                      </a:r>
                    </a:p>
                  </a:txBody>
                  <a:tcPr anchor="ctr"/>
                </a:tc>
              </a:tr>
              <a:tr h="638577">
                <a:tc>
                  <a:txBody>
                    <a:bodyPr/>
                    <a:lstStyle/>
                    <a:p>
                      <a:r>
                        <a:rPr lang="en-US"/>
                        <a:t>&lt;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348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366" y="-8698"/>
            <a:ext cx="8094372" cy="42082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>
                <a:solidFill>
                  <a:srgbClr val="FF0000"/>
                </a:solidFill>
              </a:rPr>
              <a:t>Linear Regression </a:t>
            </a:r>
            <a:r>
              <a:rPr lang="en-US" sz="3100" dirty="0" err="1" smtClean="0">
                <a:solidFill>
                  <a:srgbClr val="FF0000"/>
                </a:solidFill>
              </a:rPr>
              <a:t>vs</a:t>
            </a:r>
            <a:r>
              <a:rPr lang="en-US" sz="3100" dirty="0" smtClean="0">
                <a:solidFill>
                  <a:srgbClr val="FF0000"/>
                </a:solidFill>
              </a:rPr>
              <a:t> Logistic Regression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509653"/>
              </p:ext>
            </p:extLst>
          </p:nvPr>
        </p:nvGraphicFramePr>
        <p:xfrm>
          <a:off x="502276" y="824248"/>
          <a:ext cx="8184524" cy="595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045"/>
                <a:gridCol w="3213279"/>
                <a:gridCol w="2743200"/>
              </a:tblGrid>
              <a:tr h="708338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Linear Regression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Logistic Regression</a:t>
                      </a:r>
                      <a:endParaRPr lang="en-US"/>
                    </a:p>
                  </a:txBody>
                  <a:tcPr anchor="ctr"/>
                </a:tc>
              </a:tr>
              <a:tr h="631065">
                <a:tc>
                  <a:txBody>
                    <a:bodyPr/>
                    <a:lstStyle/>
                    <a:p>
                      <a:r>
                        <a:rPr lang="en-US" b="1" smtClean="0"/>
                        <a:t>Goal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 </a:t>
                      </a:r>
                      <a:r>
                        <a:rPr lang="en-US" b="1"/>
                        <a:t>continuous</a:t>
                      </a:r>
                      <a:r>
                        <a:rPr lang="en-US"/>
                        <a:t>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</a:t>
                      </a:r>
                      <a:r>
                        <a:rPr lang="en-US" b="1" dirty="0" smtClean="0"/>
                        <a:t>binary /discrete 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values </a:t>
                      </a:r>
                    </a:p>
                  </a:txBody>
                  <a:tcPr anchor="ctr"/>
                </a:tc>
              </a:tr>
              <a:tr h="423012">
                <a:tc>
                  <a:txBody>
                    <a:bodyPr/>
                    <a:lstStyle/>
                    <a:p>
                      <a:r>
                        <a:rPr lang="en-US" b="1" smtClean="0"/>
                        <a:t>Output Range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Any real number: (−∞, ∞)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Probability: (0, 1)</a:t>
                      </a:r>
                    </a:p>
                  </a:txBody>
                  <a:tcPr anchor="ctr"/>
                </a:tc>
              </a:tr>
              <a:tr h="423012">
                <a:tc>
                  <a:txBody>
                    <a:bodyPr/>
                    <a:lstStyle/>
                    <a:p>
                      <a:r>
                        <a:rPr lang="en-US" b="1" smtClean="0"/>
                        <a:t>Function Used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Sigmoid (logistic) function</a:t>
                      </a:r>
                    </a:p>
                  </a:txBody>
                  <a:tcPr anchor="ctr"/>
                </a:tc>
              </a:tr>
              <a:tr h="8836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Equation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</a:tr>
              <a:tr h="423012">
                <a:tc>
                  <a:txBody>
                    <a:bodyPr/>
                    <a:lstStyle/>
                    <a:p>
                      <a:r>
                        <a:rPr lang="en-US" b="1" smtClean="0"/>
                        <a:t>Problem Type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Regression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Classification problems</a:t>
                      </a:r>
                    </a:p>
                  </a:txBody>
                  <a:tcPr anchor="ctr"/>
                </a:tc>
              </a:tr>
              <a:tr h="740270">
                <a:tc>
                  <a:txBody>
                    <a:bodyPr/>
                    <a:lstStyle/>
                    <a:p>
                      <a:r>
                        <a:rPr lang="en-US" b="1" smtClean="0"/>
                        <a:t>Example Use Case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Predicting house prices, sales,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Predicting spam, disease, churn (yes/no)</a:t>
                      </a:r>
                    </a:p>
                  </a:txBody>
                  <a:tcPr anchor="ctr"/>
                </a:tc>
              </a:tr>
              <a:tr h="54457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Error Metric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Mean Squared Error (MSE),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Cross-Entropy Loss, Log-Loss</a:t>
                      </a:r>
                    </a:p>
                  </a:txBody>
                  <a:tcPr anchor="ctr"/>
                </a:tc>
              </a:tr>
              <a:tr h="428887">
                <a:tc>
                  <a:txBody>
                    <a:bodyPr/>
                    <a:lstStyle/>
                    <a:p>
                      <a:r>
                        <a:rPr lang="en-US" b="1" smtClean="0"/>
                        <a:t>Decision Threshold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Required (usually 0.5)</a:t>
                      </a:r>
                    </a:p>
                  </a:txBody>
                  <a:tcPr anchor="ctr"/>
                </a:tc>
              </a:tr>
              <a:tr h="428887">
                <a:tc>
                  <a:txBody>
                    <a:bodyPr/>
                    <a:lstStyle/>
                    <a:p>
                      <a:r>
                        <a:rPr lang="en-US" b="1" smtClean="0"/>
                        <a:t>Output Interpretation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Direct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 of class 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907" y="3224212"/>
            <a:ext cx="2237482" cy="5621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429" y="3224212"/>
            <a:ext cx="3010974" cy="50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1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Gradient Descent in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</a:t>
            </a:r>
            <a:r>
              <a:rPr lang="en-US" dirty="0"/>
              <a:t>an optimization algorithm used to </a:t>
            </a:r>
            <a:r>
              <a:rPr lang="en-US" b="1" dirty="0"/>
              <a:t>find the best model parameters (weights)</a:t>
            </a:r>
            <a:r>
              <a:rPr lang="en-US" dirty="0"/>
              <a:t> by </a:t>
            </a:r>
            <a:r>
              <a:rPr lang="en-US" b="1" dirty="0"/>
              <a:t>minimizing the loss function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7201" y="3896383"/>
            <a:ext cx="805573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the model learn from the data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adjusting the weights step by step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the error between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predicted and actual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Key points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starts with random weights.</a:t>
            </a:r>
          </a:p>
          <a:p>
            <a:r>
              <a:rPr lang="en-US" dirty="0"/>
              <a:t>Calculates predictions using the sigmoid function.</a:t>
            </a:r>
          </a:p>
          <a:p>
            <a:r>
              <a:rPr lang="en-US" dirty="0"/>
              <a:t>Measures the error using </a:t>
            </a:r>
            <a:r>
              <a:rPr lang="en-US" b="1" dirty="0"/>
              <a:t>log loss</a:t>
            </a:r>
            <a:r>
              <a:rPr lang="en-US" dirty="0"/>
              <a:t>.</a:t>
            </a:r>
          </a:p>
          <a:p>
            <a:r>
              <a:rPr lang="en-US" dirty="0"/>
              <a:t>Updates the weights in the direction that </a:t>
            </a:r>
            <a:r>
              <a:rPr lang="en-US" b="1" dirty="0"/>
              <a:t>reduces the error</a:t>
            </a:r>
            <a:r>
              <a:rPr lang="en-US" dirty="0"/>
              <a:t>.</a:t>
            </a:r>
          </a:p>
          <a:p>
            <a:r>
              <a:rPr lang="en-US" dirty="0"/>
              <a:t>Repeats this process until the model performs well.</a:t>
            </a:r>
          </a:p>
        </p:txBody>
      </p:sp>
    </p:spTree>
    <p:extLst>
      <p:ext uri="{BB962C8B-B14F-4D97-AF65-F5344CB8AC3E}">
        <p14:creationId xmlns:p14="http://schemas.microsoft.com/office/powerpoint/2010/main" val="340679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798490"/>
            <a:ext cx="7239000" cy="496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6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Real-world Applications of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Email Spam Detection</a:t>
            </a:r>
          </a:p>
          <a:p>
            <a:r>
              <a:rPr lang="en-US" dirty="0"/>
              <a:t>Classify emails as </a:t>
            </a:r>
            <a:r>
              <a:rPr lang="en-US" b="1" dirty="0"/>
              <a:t>Spam</a:t>
            </a:r>
            <a:r>
              <a:rPr lang="en-US" dirty="0"/>
              <a:t> or </a:t>
            </a:r>
            <a:r>
              <a:rPr lang="en-US" b="1" dirty="0"/>
              <a:t>Not Spam</a:t>
            </a:r>
            <a:r>
              <a:rPr lang="en-US" dirty="0"/>
              <a:t> based on keywords and sender behavior.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Medical Diagnosis</a:t>
            </a:r>
          </a:p>
          <a:p>
            <a:r>
              <a:rPr lang="en-US" dirty="0"/>
              <a:t>Predict whether a patient has a </a:t>
            </a:r>
            <a:r>
              <a:rPr lang="en-US" b="1" dirty="0"/>
              <a:t>disease</a:t>
            </a:r>
            <a:r>
              <a:rPr lang="en-US" dirty="0"/>
              <a:t> (e.g., diabetes, cancer) based on symptoms and test results.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Customer </a:t>
            </a:r>
            <a:r>
              <a:rPr lang="en-US" b="1" dirty="0">
                <a:solidFill>
                  <a:srgbClr val="FF0000"/>
                </a:solidFill>
              </a:rPr>
              <a:t>Purchase Prediction</a:t>
            </a:r>
          </a:p>
          <a:p>
            <a:r>
              <a:rPr lang="en-US" dirty="0"/>
              <a:t>Determine if a customer will </a:t>
            </a:r>
            <a:r>
              <a:rPr lang="en-US" b="1" dirty="0"/>
              <a:t>buy a product</a:t>
            </a:r>
            <a:r>
              <a:rPr lang="en-US" dirty="0"/>
              <a:t> based on browsing and purchase history.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Credit </a:t>
            </a:r>
            <a:r>
              <a:rPr lang="en-US" b="1" dirty="0">
                <a:solidFill>
                  <a:srgbClr val="FF0000"/>
                </a:solidFill>
              </a:rPr>
              <a:t>Risk Assessment</a:t>
            </a:r>
          </a:p>
          <a:p>
            <a:r>
              <a:rPr lang="en-US" dirty="0"/>
              <a:t>Assess whether a person is likely to </a:t>
            </a:r>
            <a:r>
              <a:rPr lang="en-US" b="1" dirty="0"/>
              <a:t>default on a loan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Fraud </a:t>
            </a:r>
            <a:r>
              <a:rPr lang="en-US" b="1" dirty="0">
                <a:solidFill>
                  <a:srgbClr val="FF0000"/>
                </a:solidFill>
              </a:rPr>
              <a:t>Detection</a:t>
            </a:r>
          </a:p>
          <a:p>
            <a:r>
              <a:rPr lang="en-US" dirty="0"/>
              <a:t>Detect </a:t>
            </a:r>
            <a:r>
              <a:rPr lang="en-US" b="1" dirty="0"/>
              <a:t>fraudulent transactions</a:t>
            </a:r>
            <a:r>
              <a:rPr lang="en-US" dirty="0"/>
              <a:t> in banking and online payments.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Political </a:t>
            </a:r>
            <a:r>
              <a:rPr lang="en-US" b="1" dirty="0">
                <a:solidFill>
                  <a:srgbClr val="FF0000"/>
                </a:solidFill>
              </a:rPr>
              <a:t>Campaigning</a:t>
            </a:r>
          </a:p>
          <a:p>
            <a:r>
              <a:rPr lang="en-US" dirty="0"/>
              <a:t>Predict </a:t>
            </a:r>
            <a:r>
              <a:rPr lang="en-US" b="1" dirty="0"/>
              <a:t>voter behavior</a:t>
            </a:r>
            <a:r>
              <a:rPr lang="en-US" dirty="0"/>
              <a:t> based on demographics and survey responses.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Self-Driving </a:t>
            </a:r>
            <a:r>
              <a:rPr lang="en-US" b="1" dirty="0">
                <a:solidFill>
                  <a:srgbClr val="FF0000"/>
                </a:solidFill>
              </a:rPr>
              <a:t>Cars</a:t>
            </a:r>
          </a:p>
          <a:p>
            <a:r>
              <a:rPr lang="en-US" dirty="0"/>
              <a:t>Classify whether to </a:t>
            </a:r>
            <a:r>
              <a:rPr lang="en-US" b="1" dirty="0"/>
              <a:t>stop, turn, or continue</a:t>
            </a:r>
            <a:r>
              <a:rPr lang="en-US" dirty="0"/>
              <a:t> based on sensor data (basic models).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623</Words>
  <Application>Microsoft Office PowerPoint</Application>
  <PresentationFormat>On-screen Show (4:3)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var(--font-mono)</vt:lpstr>
      <vt:lpstr>Office Theme</vt:lpstr>
      <vt:lpstr>Logistic Regression</vt:lpstr>
      <vt:lpstr>What is Regression?</vt:lpstr>
      <vt:lpstr>Types of Regression</vt:lpstr>
      <vt:lpstr>Logistic Regression</vt:lpstr>
      <vt:lpstr>Purpose of Logistic Regression</vt:lpstr>
      <vt:lpstr>Key Concepts</vt:lpstr>
      <vt:lpstr>Mathematical Formulation</vt:lpstr>
      <vt:lpstr>Decision Rule</vt:lpstr>
      <vt:lpstr>   Linear Regression vs Logistic Regression  </vt:lpstr>
      <vt:lpstr>Gradient Descent in Logistic Regression</vt:lpstr>
      <vt:lpstr>Key points </vt:lpstr>
      <vt:lpstr>PowerPoint Presentation</vt:lpstr>
      <vt:lpstr>Real-world Applications of Logistic Regression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</dc:title>
  <dc:subject/>
  <dc:creator>Noha Rashad</dc:creator>
  <cp:keywords/>
  <dc:description>generated using python-pptx</dc:description>
  <cp:lastModifiedBy>Noha Rashad</cp:lastModifiedBy>
  <cp:revision>11</cp:revision>
  <dcterms:created xsi:type="dcterms:W3CDTF">2013-01-27T09:14:16Z</dcterms:created>
  <dcterms:modified xsi:type="dcterms:W3CDTF">2025-07-16T14:12:37Z</dcterms:modified>
  <cp:category/>
</cp:coreProperties>
</file>